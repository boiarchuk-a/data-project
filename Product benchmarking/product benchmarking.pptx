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Raleway"/>
      <p:regular r:id="rId11"/>
      <p:bold r:id="rId12"/>
      <p:italic r:id="rId13"/>
      <p:boldItalic r:id="rId14"/>
    </p:embeddedFont>
    <p:embeddedFont>
      <p:font typeface="Roboto"/>
      <p:regular r:id="rId15"/>
      <p:bold r:id="rId16"/>
      <p:italic r:id="rId17"/>
      <p:boldItalic r:id="rId18"/>
    </p:embeddedFont>
    <p:embeddedFont>
      <p:font typeface="Montserrat"/>
      <p:regular r:id="rId19"/>
      <p:bold r:id="rId20"/>
      <p:italic r:id="rId21"/>
      <p:boldItalic r:id="rId22"/>
    </p:embeddedFont>
    <p:embeddedFont>
      <p:font typeface="Merriweather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Montserrat-bold.fntdata"/><Relationship Id="rId22" Type="http://schemas.openxmlformats.org/officeDocument/2006/relationships/font" Target="fonts/Montserrat-boldItalic.fntdata"/><Relationship Id="rId21" Type="http://schemas.openxmlformats.org/officeDocument/2006/relationships/font" Target="fonts/Montserrat-italic.fntdata"/><Relationship Id="rId24" Type="http://schemas.openxmlformats.org/officeDocument/2006/relationships/font" Target="fonts/Merriweather-bold.fntdata"/><Relationship Id="rId23" Type="http://schemas.openxmlformats.org/officeDocument/2006/relationships/font" Target="fonts/Merriweather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Merriweather-boldItalic.fntdata"/><Relationship Id="rId25" Type="http://schemas.openxmlformats.org/officeDocument/2006/relationships/font" Target="fonts/Merriweather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Raleway-regular.fntdata"/><Relationship Id="rId10" Type="http://schemas.openxmlformats.org/officeDocument/2006/relationships/slide" Target="slides/slide5.xml"/><Relationship Id="rId13" Type="http://schemas.openxmlformats.org/officeDocument/2006/relationships/font" Target="fonts/Raleway-italic.fntdata"/><Relationship Id="rId12" Type="http://schemas.openxmlformats.org/officeDocument/2006/relationships/font" Target="fonts/Raleway-bold.fntdata"/><Relationship Id="rId15" Type="http://schemas.openxmlformats.org/officeDocument/2006/relationships/font" Target="fonts/Roboto-regular.fntdata"/><Relationship Id="rId14" Type="http://schemas.openxmlformats.org/officeDocument/2006/relationships/font" Target="fonts/Raleway-boldItalic.fntdata"/><Relationship Id="rId17" Type="http://schemas.openxmlformats.org/officeDocument/2006/relationships/font" Target="fonts/Roboto-italic.fntdata"/><Relationship Id="rId16" Type="http://schemas.openxmlformats.org/officeDocument/2006/relationships/font" Target="fonts/Roboto-bold.fntdata"/><Relationship Id="rId19" Type="http://schemas.openxmlformats.org/officeDocument/2006/relationships/font" Target="fonts/Montserrat-regular.fntdata"/><Relationship Id="rId18" Type="http://schemas.openxmlformats.org/officeDocument/2006/relationships/font" Target="fonts/Roboto-bold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c6f9e470d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c6f9e470d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c6f9e470d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c6f9e470d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c6f9e470d_0_24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c6f9e470d_0_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c6f9e470d_0_3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c6f9e470d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c6f9e470d_0_4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c6f9e470d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accent3"/>
        </a:solidFill>
      </p:bgPr>
    </p:bg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rect b="b" l="l" r="r" t="t"/>
            <a:pathLst>
              <a:path extrusionOk="0" h="175924" w="36577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rect b="b" l="l" r="r" t="t"/>
            <a:pathLst>
              <a:path extrusionOk="0" h="175975" w="172545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rect b="b" l="l" r="r" t="t"/>
            <a:pathLst>
              <a:path extrusionOk="0" h="175824" w="172676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/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" type="body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" name="Google Shape;28;p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0" name="Google Shape;30;p5"/>
          <p:cNvSpPr txBox="1"/>
          <p:nvPr>
            <p:ph idx="2" type="body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6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7"/>
          <p:cNvSpPr txBox="1"/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" name="Google Shape;39;p7"/>
          <p:cNvSpPr txBox="1"/>
          <p:nvPr>
            <p:ph idx="1" type="body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0" name="Google Shape;40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3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/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9"/>
          <p:cNvSpPr txBox="1"/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9"/>
          <p:cNvSpPr txBox="1"/>
          <p:nvPr>
            <p:ph idx="1" type="subTitle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48" name="Google Shape;48;p9"/>
          <p:cNvSpPr txBox="1"/>
          <p:nvPr>
            <p:ph idx="2" type="body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9" name="Google Shape;49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10"/>
          <p:cNvSpPr txBox="1"/>
          <p:nvPr>
            <p:ph idx="1" type="body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/>
        </p:txBody>
      </p:sp>
      <p:sp>
        <p:nvSpPr>
          <p:cNvPr id="53" name="Google Shape;5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/>
          <p:nvPr>
            <p:ph hasCustomPrompt="1" type="title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/>
          <p:nvPr>
            <p:ph idx="1" type="body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57" name="Google Shape;5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radig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 txBox="1"/>
          <p:nvPr>
            <p:ph type="ctrTitle"/>
          </p:nvPr>
        </p:nvSpPr>
        <p:spPr>
          <a:xfrm>
            <a:off x="311700" y="477125"/>
            <a:ext cx="6631500" cy="128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Выводы по проведенному бенчмаркингу продукта</a:t>
            </a:r>
            <a:endParaRPr/>
          </a:p>
        </p:txBody>
      </p:sp>
      <p:sp>
        <p:nvSpPr>
          <p:cNvPr id="65" name="Google Shape;65;p13"/>
          <p:cNvSpPr txBox="1"/>
          <p:nvPr>
            <p:ph idx="1" type="subTitle"/>
          </p:nvPr>
        </p:nvSpPr>
        <p:spPr>
          <a:xfrm>
            <a:off x="311700" y="1896450"/>
            <a:ext cx="6148500" cy="738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Montserrat"/>
                <a:ea typeface="Montserrat"/>
                <a:cs typeface="Montserrat"/>
                <a:sym typeface="Montserrat"/>
              </a:rPr>
              <a:t>Тема: </a:t>
            </a:r>
            <a:r>
              <a:rPr i="1" lang="ru" sz="1300">
                <a:latin typeface="Montserrat"/>
                <a:ea typeface="Montserrat"/>
                <a:cs typeface="Montserrat"/>
                <a:sym typeface="Montserrat"/>
              </a:rPr>
              <a:t>Модель прогнозирования отклика клиента на скидку</a:t>
            </a:r>
            <a:endParaRPr/>
          </a:p>
        </p:txBody>
      </p:sp>
      <p:sp>
        <p:nvSpPr>
          <p:cNvPr id="66" name="Google Shape;66;p13"/>
          <p:cNvSpPr txBox="1"/>
          <p:nvPr/>
        </p:nvSpPr>
        <p:spPr>
          <a:xfrm>
            <a:off x="5893450" y="4340525"/>
            <a:ext cx="3044700" cy="50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ru" sz="1600">
                <a:solidFill>
                  <a:srgbClr val="626B73"/>
                </a:solidFill>
                <a:latin typeface="Montserrat"/>
                <a:ea typeface="Montserrat"/>
                <a:cs typeface="Montserrat"/>
                <a:sym typeface="Montserrat"/>
              </a:rPr>
              <a:t>Боярчук Алина Игоревна</a:t>
            </a:r>
            <a:endParaRPr b="1" i="1" sz="1600">
              <a:solidFill>
                <a:srgbClr val="626B73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246375" y="187825"/>
            <a:ext cx="8520600" cy="85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2400">
                <a:latin typeface="Raleway"/>
                <a:ea typeface="Raleway"/>
                <a:cs typeface="Raleway"/>
                <a:sym typeface="Raleway"/>
              </a:rPr>
              <a:t>Минимальные требования к функциональности моего продукта</a:t>
            </a:r>
            <a:endParaRPr b="1" sz="2400">
              <a:latin typeface="Raleway"/>
              <a:ea typeface="Raleway"/>
              <a:cs typeface="Raleway"/>
              <a:sym typeface="Raleway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72" name="Google Shape;72;p14"/>
          <p:cNvGrpSpPr/>
          <p:nvPr/>
        </p:nvGrpSpPr>
        <p:grpSpPr>
          <a:xfrm>
            <a:off x="246373" y="1302481"/>
            <a:ext cx="2065546" cy="3421183"/>
            <a:chOff x="431925" y="1304875"/>
            <a:chExt cx="2628925" cy="3416400"/>
          </a:xfrm>
        </p:grpSpPr>
        <p:sp>
          <p:nvSpPr>
            <p:cNvPr id="73" name="Google Shape;73;p14"/>
            <p:cNvSpPr txBox="1"/>
            <p:nvPr/>
          </p:nvSpPr>
          <p:spPr>
            <a:xfrm>
              <a:off x="431925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550" lIns="91550" spcFirstLastPara="1" rIns="91550" wrap="square" tIns="915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4"/>
            <p:cNvSpPr/>
            <p:nvPr/>
          </p:nvSpPr>
          <p:spPr>
            <a:xfrm>
              <a:off x="4319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550" lIns="91550" spcFirstLastPara="1" rIns="91550" wrap="square" tIns="9155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5" name="Google Shape;75;p14"/>
          <p:cNvSpPr txBox="1"/>
          <p:nvPr>
            <p:ph idx="4294967295" type="body"/>
          </p:nvPr>
        </p:nvSpPr>
        <p:spPr>
          <a:xfrm>
            <a:off x="311525" y="1826000"/>
            <a:ext cx="1958400" cy="284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Загрузка и регулярное обновление данных о покупках и промо-кампаниях.</a:t>
            </a:r>
            <a:endParaRPr sz="1600"/>
          </a:p>
        </p:txBody>
      </p:sp>
      <p:grpSp>
        <p:nvGrpSpPr>
          <p:cNvPr id="76" name="Google Shape;76;p14"/>
          <p:cNvGrpSpPr/>
          <p:nvPr/>
        </p:nvGrpSpPr>
        <p:grpSpPr>
          <a:xfrm>
            <a:off x="2472116" y="1307275"/>
            <a:ext cx="1958317" cy="3416400"/>
            <a:chOff x="3320450" y="1304875"/>
            <a:chExt cx="2632500" cy="3416400"/>
          </a:xfrm>
        </p:grpSpPr>
        <p:sp>
          <p:nvSpPr>
            <p:cNvPr id="77" name="Google Shape;77;p14"/>
            <p:cNvSpPr txBox="1"/>
            <p:nvPr/>
          </p:nvSpPr>
          <p:spPr>
            <a:xfrm>
              <a:off x="3324050" y="1304875"/>
              <a:ext cx="26289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4"/>
            <p:cNvSpPr/>
            <p:nvPr/>
          </p:nvSpPr>
          <p:spPr>
            <a:xfrm>
              <a:off x="332045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9" name="Google Shape;79;p14"/>
          <p:cNvSpPr txBox="1"/>
          <p:nvPr>
            <p:ph idx="4294967295" type="body"/>
          </p:nvPr>
        </p:nvSpPr>
        <p:spPr>
          <a:xfrm>
            <a:off x="2547825" y="1801700"/>
            <a:ext cx="1848900" cy="284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Uplift-скоринг клиентов по отклику на скидку на основе исторических данных (скоринговая модель, оценивающая, насколько скидка меняет вероятность покупки).</a:t>
            </a:r>
            <a:endParaRPr sz="1600"/>
          </a:p>
        </p:txBody>
      </p:sp>
      <p:grpSp>
        <p:nvGrpSpPr>
          <p:cNvPr id="80" name="Google Shape;80;p14"/>
          <p:cNvGrpSpPr/>
          <p:nvPr/>
        </p:nvGrpSpPr>
        <p:grpSpPr>
          <a:xfrm>
            <a:off x="4591769" y="1307275"/>
            <a:ext cx="2027815" cy="3416400"/>
            <a:chOff x="6212550" y="1304875"/>
            <a:chExt cx="2632500" cy="3416400"/>
          </a:xfrm>
        </p:grpSpPr>
        <p:sp>
          <p:nvSpPr>
            <p:cNvPr id="81" name="Google Shape;81;p14"/>
            <p:cNvSpPr/>
            <p:nvPr/>
          </p:nvSpPr>
          <p:spPr>
            <a:xfrm>
              <a:off x="621540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14"/>
            <p:cNvSpPr txBox="1"/>
            <p:nvPr/>
          </p:nvSpPr>
          <p:spPr>
            <a:xfrm>
              <a:off x="6212550" y="1304875"/>
              <a:ext cx="26325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3" name="Google Shape;83;p14"/>
          <p:cNvSpPr txBox="1"/>
          <p:nvPr>
            <p:ph idx="4294967295" type="body"/>
          </p:nvPr>
        </p:nvSpPr>
        <p:spPr>
          <a:xfrm>
            <a:off x="4766900" y="1832900"/>
            <a:ext cx="1732200" cy="27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Формирование списков/сегментов для CRM.</a:t>
            </a:r>
            <a:endParaRPr sz="1600"/>
          </a:p>
        </p:txBody>
      </p:sp>
      <p:grpSp>
        <p:nvGrpSpPr>
          <p:cNvPr id="84" name="Google Shape;84;p14"/>
          <p:cNvGrpSpPr/>
          <p:nvPr/>
        </p:nvGrpSpPr>
        <p:grpSpPr>
          <a:xfrm>
            <a:off x="6780934" y="1307275"/>
            <a:ext cx="2120479" cy="3416400"/>
            <a:chOff x="6212550" y="1304875"/>
            <a:chExt cx="2632500" cy="3416400"/>
          </a:xfrm>
        </p:grpSpPr>
        <p:sp>
          <p:nvSpPr>
            <p:cNvPr id="85" name="Google Shape;85;p14"/>
            <p:cNvSpPr/>
            <p:nvPr/>
          </p:nvSpPr>
          <p:spPr>
            <a:xfrm>
              <a:off x="6215400" y="1304875"/>
              <a:ext cx="2628900" cy="3416400"/>
            </a:xfrm>
            <a:prstGeom prst="rect">
              <a:avLst/>
            </a:prstGeom>
            <a:noFill/>
            <a:ln cap="flat" cmpd="sng" w="952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14"/>
            <p:cNvSpPr txBox="1"/>
            <p:nvPr/>
          </p:nvSpPr>
          <p:spPr>
            <a:xfrm>
              <a:off x="6212550" y="1304875"/>
              <a:ext cx="2632500" cy="4641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7" name="Google Shape;87;p14"/>
          <p:cNvSpPr txBox="1"/>
          <p:nvPr>
            <p:ph idx="4294967295" type="body"/>
          </p:nvPr>
        </p:nvSpPr>
        <p:spPr>
          <a:xfrm>
            <a:off x="6975075" y="1857200"/>
            <a:ext cx="1732200" cy="27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000"/>
              </a:spcAft>
              <a:buNone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Простые отчёты для директора по маркетингу: экономия бюджета, прирост конверсии и дополнительная прибыль.</a:t>
            </a:r>
            <a:endParaRPr sz="16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5"/>
          <p:cNvSpPr txBox="1"/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2300"/>
              <a:t>Ключевые конкурентные преимущества</a:t>
            </a:r>
            <a:endParaRPr b="1" sz="36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5"/>
          <p:cNvSpPr/>
          <p:nvPr/>
        </p:nvSpPr>
        <p:spPr>
          <a:xfrm>
            <a:off x="432350" y="1304875"/>
            <a:ext cx="2469300" cy="607800"/>
          </a:xfrm>
          <a:prstGeom prst="homePlate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5"/>
          <p:cNvSpPr txBox="1"/>
          <p:nvPr>
            <p:ph idx="4294967295" type="body"/>
          </p:nvPr>
        </p:nvSpPr>
        <p:spPr>
          <a:xfrm>
            <a:off x="432350" y="2070575"/>
            <a:ext cx="2471700" cy="26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➔"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Узкая специализация: только эффективность скидок и промо, а не «весь маркетинг».</a:t>
            </a:r>
            <a:endParaRPr sz="1600"/>
          </a:p>
        </p:txBody>
      </p:sp>
      <p:sp>
        <p:nvSpPr>
          <p:cNvPr id="95" name="Google Shape;95;p15"/>
          <p:cNvSpPr/>
          <p:nvPr/>
        </p:nvSpPr>
        <p:spPr>
          <a:xfrm>
            <a:off x="3044777" y="1304875"/>
            <a:ext cx="27606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5"/>
          <p:cNvSpPr txBox="1"/>
          <p:nvPr>
            <p:ph idx="4294967295" type="body"/>
          </p:nvPr>
        </p:nvSpPr>
        <p:spPr>
          <a:xfrm>
            <a:off x="3336146" y="2070575"/>
            <a:ext cx="2471700" cy="26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Char char="➔"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Понятный бизнес-язык и отчёты: фокус не на моделях, а на ответе «сколько денег мы экономим/зарабатываем».</a:t>
            </a:r>
            <a:endParaRPr sz="1600"/>
          </a:p>
        </p:txBody>
      </p:sp>
      <p:sp>
        <p:nvSpPr>
          <p:cNvPr id="97" name="Google Shape;97;p15"/>
          <p:cNvSpPr/>
          <p:nvPr/>
        </p:nvSpPr>
        <p:spPr>
          <a:xfrm>
            <a:off x="5948502" y="1304875"/>
            <a:ext cx="2760600" cy="6078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 txBox="1"/>
          <p:nvPr>
            <p:ph idx="4294967295" type="body"/>
          </p:nvPr>
        </p:nvSpPr>
        <p:spPr>
          <a:xfrm>
            <a:off x="6254226" y="2070575"/>
            <a:ext cx="2471700" cy="265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➔"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Возможность развернуть решение как внутренний сервис, не зависящий от внешней платформы и дорогих лицензий.</a:t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62600" y="805075"/>
            <a:ext cx="4572000" cy="147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ru" sz="2400">
                <a:latin typeface="Raleway"/>
                <a:ea typeface="Raleway"/>
                <a:cs typeface="Raleway"/>
                <a:sym typeface="Raleway"/>
              </a:rPr>
              <a:t>Модель ценообразования / монетизации</a:t>
            </a:r>
            <a:endParaRPr/>
          </a:p>
        </p:txBody>
      </p:sp>
      <p:sp>
        <p:nvSpPr>
          <p:cNvPr id="104" name="Google Shape;104;p16"/>
          <p:cNvSpPr txBox="1"/>
          <p:nvPr>
            <p:ph idx="2" type="body"/>
          </p:nvPr>
        </p:nvSpPr>
        <p:spPr>
          <a:xfrm>
            <a:off x="4876925" y="383550"/>
            <a:ext cx="3980700" cy="437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17500" lvl="0" marL="45720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aleway"/>
              <a:buChar char="➔"/>
            </a:pPr>
            <a:r>
              <a:rPr b="1" lang="ru" sz="1400">
                <a:solidFill>
                  <a:srgbClr val="000000"/>
                </a:solidFill>
                <a:latin typeface="Raleway"/>
                <a:ea typeface="Raleway"/>
                <a:cs typeface="Raleway"/>
                <a:sym typeface="Raleway"/>
              </a:rPr>
              <a:t>В учебном проекте — внутренний инструмент, ценность измеряется через экономию промо-бюджета и рост прибыли, а не через прямую выручку.</a:t>
            </a:r>
            <a:endParaRPr b="1" sz="1400">
              <a:latin typeface="Raleway"/>
              <a:ea typeface="Raleway"/>
              <a:cs typeface="Raleway"/>
              <a:sym typeface="Raleway"/>
            </a:endParaRPr>
          </a:p>
          <a:p>
            <a:pPr indent="-317500" lvl="0" marL="457200" rtl="0" algn="just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Raleway"/>
              <a:buChar char="➔"/>
            </a:pPr>
            <a:r>
              <a:rPr b="1" lang="ru" sz="14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rPr>
              <a:t>В потенциальном внешнем продукте — SaaS-подписка, как у Klaviyo/Optimove, но с оплатой за количество скорированных клиентов/кампаний и более низким порогом входа.</a:t>
            </a:r>
            <a:endParaRPr/>
          </a:p>
        </p:txBody>
      </p:sp>
      <p:pic>
        <p:nvPicPr>
          <p:cNvPr descr="Dollar bills (источник: Getty Images)" id="105" name="Google Shape;10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650" y="2010425"/>
            <a:ext cx="4248525" cy="28796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Фоновый значок указателя на временной шкале" id="110" name="Google Shape;110;p17"/>
          <p:cNvSpPr/>
          <p:nvPr/>
        </p:nvSpPr>
        <p:spPr>
          <a:xfrm>
            <a:off x="183871" y="2588388"/>
            <a:ext cx="1872300" cy="745500"/>
          </a:xfrm>
          <a:prstGeom prst="homePlate">
            <a:avLst>
              <a:gd fmla="val 50000" name="adj"/>
            </a:avLst>
          </a:prstGeom>
          <a:solidFill>
            <a:schemeClr val="dk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1" name="Google Shape;111;p17"/>
          <p:cNvGrpSpPr/>
          <p:nvPr/>
        </p:nvGrpSpPr>
        <p:grpSpPr>
          <a:xfrm>
            <a:off x="812207" y="1999603"/>
            <a:ext cx="198900" cy="593656"/>
            <a:chOff x="777447" y="1610215"/>
            <a:chExt cx="198900" cy="593656"/>
          </a:xfrm>
        </p:grpSpPr>
        <p:cxnSp>
          <p:nvCxnSpPr>
            <p:cNvPr id="112" name="Google Shape;112;p17"/>
            <p:cNvCxnSpPr/>
            <p:nvPr/>
          </p:nvCxnSpPr>
          <p:spPr>
            <a:xfrm>
              <a:off x="876909" y="1649171"/>
              <a:ext cx="0" cy="55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3" name="Google Shape;113;p17"/>
            <p:cNvSpPr/>
            <p:nvPr/>
          </p:nvSpPr>
          <p:spPr>
            <a:xfrm>
              <a:off x="777447" y="1610215"/>
              <a:ext cx="198900" cy="1989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4" name="Google Shape;114;p17"/>
          <p:cNvSpPr txBox="1"/>
          <p:nvPr>
            <p:ph idx="4294967295" type="body"/>
          </p:nvPr>
        </p:nvSpPr>
        <p:spPr>
          <a:xfrm>
            <a:off x="196538" y="126100"/>
            <a:ext cx="4286700" cy="182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ru" sz="1400"/>
              <a:t>TTV (Time-to-Value) – не более 2 недель.</a:t>
            </a:r>
            <a:endParaRPr i="1" sz="1400"/>
          </a:p>
          <a:p>
            <a:pPr indent="0" lvl="0" marL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На рынке (Klaviyo, Optimove, Mindbox) среднее время до первой кампании с использованием платформы составляет около 5–6 недель. </a:t>
            </a:r>
            <a:endParaRPr sz="1400"/>
          </a:p>
          <a:p>
            <a:pPr indent="0" lvl="0" marL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За счет</a:t>
            </a:r>
            <a:r>
              <a:rPr lang="ru" sz="1400"/>
              <a:t> узкой специализации на скидках и простых интеграций я закладываю цель: подключение данных и запуск первой кампании со скорингом не более чем за 2 недели.</a:t>
            </a:r>
            <a:endParaRPr sz="1400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Pts val="935"/>
              <a:buFont typeface="Arial"/>
              <a:buNone/>
            </a:pPr>
            <a:r>
              <a:t/>
            </a:r>
            <a:endParaRPr sz="1400"/>
          </a:p>
        </p:txBody>
      </p:sp>
      <p:sp>
        <p:nvSpPr>
          <p:cNvPr descr="Фоновый значок указателя на временной шкале&#10;" id="115" name="Google Shape;115;p17"/>
          <p:cNvSpPr/>
          <p:nvPr/>
        </p:nvSpPr>
        <p:spPr>
          <a:xfrm>
            <a:off x="1659991" y="2588388"/>
            <a:ext cx="2051100" cy="7455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6" name="Google Shape;116;p17"/>
          <p:cNvGrpSpPr/>
          <p:nvPr/>
        </p:nvGrpSpPr>
        <p:grpSpPr>
          <a:xfrm>
            <a:off x="4284350" y="3333963"/>
            <a:ext cx="198900" cy="470413"/>
            <a:chOff x="2223534" y="2938958"/>
            <a:chExt cx="198900" cy="593656"/>
          </a:xfrm>
        </p:grpSpPr>
        <p:cxnSp>
          <p:nvCxnSpPr>
            <p:cNvPr id="117" name="Google Shape;117;p17"/>
            <p:cNvCxnSpPr/>
            <p:nvPr/>
          </p:nvCxnSpPr>
          <p:spPr>
            <a:xfrm rot="10800000">
              <a:off x="2322997" y="2938958"/>
              <a:ext cx="0" cy="55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18" name="Google Shape;118;p17"/>
            <p:cNvSpPr/>
            <p:nvPr/>
          </p:nvSpPr>
          <p:spPr>
            <a:xfrm flipH="1" rot="10800000">
              <a:off x="2223534" y="3333714"/>
              <a:ext cx="198900" cy="1989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19" name="Google Shape;119;p17"/>
          <p:cNvSpPr txBox="1"/>
          <p:nvPr>
            <p:ph idx="4294967295" type="body"/>
          </p:nvPr>
        </p:nvSpPr>
        <p:spPr>
          <a:xfrm>
            <a:off x="1763975" y="3752700"/>
            <a:ext cx="6404700" cy="139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just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i="1" lang="ru" sz="1400"/>
              <a:t>Уровень no-code для маркетолога – не ниже 2,5 из 3.</a:t>
            </a:r>
            <a:endParaRPr i="1" sz="1400"/>
          </a:p>
          <a:p>
            <a:pPr indent="0" lvl="0" marL="0" rtl="0" algn="just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Конкуренты в среднем дают уровень около 2,3: многое можно сделать руками маркетолога, но для сложных сценариев нужен аналитик/IT. </a:t>
            </a:r>
            <a:endParaRPr sz="1400"/>
          </a:p>
          <a:p>
            <a:pPr indent="0" lvl="0" marL="0" rtl="0" algn="just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/>
              <a:t>В </a:t>
            </a:r>
            <a:r>
              <a:rPr lang="ru" sz="1400"/>
              <a:t>моем</a:t>
            </a:r>
            <a:r>
              <a:rPr lang="ru" sz="1400"/>
              <a:t> продукте </a:t>
            </a:r>
            <a:r>
              <a:rPr lang="ru" sz="1400"/>
              <a:t>маркетолог</a:t>
            </a:r>
            <a:r>
              <a:rPr lang="ru" sz="1400"/>
              <a:t> и CRM-менеджер должны сами запускать </a:t>
            </a:r>
            <a:r>
              <a:rPr lang="ru" sz="1400"/>
              <a:t>пересчет</a:t>
            </a:r>
            <a:r>
              <a:rPr lang="ru" sz="1400"/>
              <a:t> модели, выбирать сегменты по uplift-рейтингу и выгружать списки клиентов, а аналитик участвует только в настройке.</a:t>
            </a:r>
            <a:endParaRPr sz="1400"/>
          </a:p>
          <a:p>
            <a:pPr indent="0" lvl="0" marL="0" rtl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2"/>
              <a:buFont typeface="Arial"/>
              <a:buNone/>
            </a:pPr>
            <a:r>
              <a:t/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/>
          </a:p>
        </p:txBody>
      </p:sp>
      <p:sp>
        <p:nvSpPr>
          <p:cNvPr descr="Фоновый значок указателя на временной шкале&#10;" id="120" name="Google Shape;120;p17"/>
          <p:cNvSpPr/>
          <p:nvPr/>
        </p:nvSpPr>
        <p:spPr>
          <a:xfrm>
            <a:off x="3314911" y="2588388"/>
            <a:ext cx="2051100" cy="7455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Фоновый значок указателя на временной шкале&#10;" id="121" name="Google Shape;121;p17"/>
          <p:cNvSpPr/>
          <p:nvPr/>
        </p:nvSpPr>
        <p:spPr>
          <a:xfrm>
            <a:off x="4969831" y="2588388"/>
            <a:ext cx="2051100" cy="7455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Фоновый значок указателя на временной шкале&#10;" id="122" name="Google Shape;122;p17"/>
          <p:cNvSpPr/>
          <p:nvPr/>
        </p:nvSpPr>
        <p:spPr>
          <a:xfrm>
            <a:off x="6624751" y="2588388"/>
            <a:ext cx="2051100" cy="745500"/>
          </a:xfrm>
          <a:prstGeom prst="chevron">
            <a:avLst>
              <a:gd fmla="val 50000" name="adj"/>
            </a:avLst>
          </a:prstGeom>
          <a:solidFill>
            <a:schemeClr val="dk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75" lIns="121875" spcFirstLastPara="1" rIns="121875" wrap="square" tIns="1218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17"/>
          <p:cNvSpPr txBox="1"/>
          <p:nvPr>
            <p:ph idx="4294967295" type="body"/>
          </p:nvPr>
        </p:nvSpPr>
        <p:spPr>
          <a:xfrm>
            <a:off x="454413" y="2728363"/>
            <a:ext cx="7772100" cy="470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ru" sz="2425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Бенчмарки, к которым я хочу стремиться</a:t>
            </a:r>
            <a:endParaRPr sz="220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124" name="Google Shape;124;p17"/>
          <p:cNvGrpSpPr/>
          <p:nvPr/>
        </p:nvGrpSpPr>
        <p:grpSpPr>
          <a:xfrm>
            <a:off x="6624770" y="1999603"/>
            <a:ext cx="198900" cy="593656"/>
            <a:chOff x="3918084" y="1610215"/>
            <a:chExt cx="198900" cy="593656"/>
          </a:xfrm>
        </p:grpSpPr>
        <p:cxnSp>
          <p:nvCxnSpPr>
            <p:cNvPr id="125" name="Google Shape;125;p17"/>
            <p:cNvCxnSpPr/>
            <p:nvPr/>
          </p:nvCxnSpPr>
          <p:spPr>
            <a:xfrm>
              <a:off x="4017546" y="1649171"/>
              <a:ext cx="0" cy="554700"/>
            </a:xfrm>
            <a:prstGeom prst="straightConnector1">
              <a:avLst/>
            </a:prstGeom>
            <a:noFill/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26" name="Google Shape;126;p17"/>
            <p:cNvSpPr/>
            <p:nvPr/>
          </p:nvSpPr>
          <p:spPr>
            <a:xfrm>
              <a:off x="3918084" y="1610215"/>
              <a:ext cx="198900" cy="1989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7" name="Google Shape;127;p17"/>
          <p:cNvSpPr txBox="1"/>
          <p:nvPr>
            <p:ph idx="4294967295" type="body"/>
          </p:nvPr>
        </p:nvSpPr>
        <p:spPr>
          <a:xfrm>
            <a:off x="4673438" y="126100"/>
            <a:ext cx="4286700" cy="187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i="1" lang="ru" sz="5600">
                <a:solidFill>
                  <a:srgbClr val="666666"/>
                </a:solidFill>
              </a:rPr>
              <a:t>Встроенный отчёт по ROI скидок – обязателен.</a:t>
            </a:r>
            <a:endParaRPr i="1" sz="5600">
              <a:solidFill>
                <a:srgbClr val="666666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5600">
                <a:solidFill>
                  <a:srgbClr val="666666"/>
                </a:solidFill>
              </a:rPr>
              <a:t>Все конкуренты предоставляют </a:t>
            </a:r>
            <a:r>
              <a:rPr lang="ru" sz="5600">
                <a:solidFill>
                  <a:srgbClr val="666666"/>
                </a:solidFill>
              </a:rPr>
              <a:t>отчеты</a:t>
            </a:r>
            <a:r>
              <a:rPr lang="ru" sz="5600">
                <a:solidFill>
                  <a:srgbClr val="666666"/>
                </a:solidFill>
              </a:rPr>
              <a:t> по эффективности кампаний, но у них это лишь часть большого набора </a:t>
            </a:r>
            <a:r>
              <a:rPr lang="ru" sz="5600">
                <a:solidFill>
                  <a:srgbClr val="666666"/>
                </a:solidFill>
              </a:rPr>
              <a:t>отчетов</a:t>
            </a:r>
            <a:r>
              <a:rPr lang="ru" sz="5600">
                <a:solidFill>
                  <a:srgbClr val="666666"/>
                </a:solidFill>
              </a:rPr>
              <a:t>. </a:t>
            </a:r>
            <a:endParaRPr sz="5600">
              <a:solidFill>
                <a:srgbClr val="666666"/>
              </a:solidFill>
            </a:endParaRPr>
          </a:p>
          <a:p>
            <a:pPr indent="0" lvl="0" marL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ru" sz="5600">
                <a:solidFill>
                  <a:srgbClr val="666666"/>
                </a:solidFill>
              </a:rPr>
              <a:t>В </a:t>
            </a:r>
            <a:r>
              <a:rPr lang="ru" sz="5600">
                <a:solidFill>
                  <a:srgbClr val="666666"/>
                </a:solidFill>
              </a:rPr>
              <a:t>моем</a:t>
            </a:r>
            <a:r>
              <a:rPr lang="ru" sz="5600">
                <a:solidFill>
                  <a:srgbClr val="666666"/>
                </a:solidFill>
              </a:rPr>
              <a:t> продукте отдельный дашборд по ROI скидок, доле «бесполезных» скидок и инкрементальной выручке – ключевая функция и основной экран для директора по маркетингу.</a:t>
            </a:r>
            <a:endParaRPr sz="56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5600">
              <a:solidFill>
                <a:srgbClr val="666666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