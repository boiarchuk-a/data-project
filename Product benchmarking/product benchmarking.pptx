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5" Type="http://schemas.openxmlformats.org/officeDocument/2006/relationships/font" Target="fonts/Robo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9e470d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9e47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477125"/>
            <a:ext cx="66315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 по проведенному бенчмаркингу продукта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96450"/>
            <a:ext cx="61485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Тема: </a:t>
            </a:r>
            <a:r>
              <a:rPr i="1" lang="ru" sz="1300">
                <a:latin typeface="Montserrat"/>
                <a:ea typeface="Montserrat"/>
                <a:cs typeface="Montserrat"/>
                <a:sym typeface="Montserrat"/>
              </a:rPr>
              <a:t>Модель прогнозирования отклика клиента на скидку</a:t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5893450" y="4340525"/>
            <a:ext cx="3044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600">
                <a:solidFill>
                  <a:srgbClr val="626B73"/>
                </a:solidFill>
                <a:latin typeface="Montserrat"/>
                <a:ea typeface="Montserrat"/>
                <a:cs typeface="Montserrat"/>
                <a:sym typeface="Montserrat"/>
              </a:rPr>
              <a:t>Боярчук Алина Игоревна</a:t>
            </a:r>
            <a:endParaRPr b="1" i="1" sz="1600">
              <a:solidFill>
                <a:srgbClr val="626B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246375" y="187825"/>
            <a:ext cx="8520600" cy="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latin typeface="Raleway"/>
                <a:ea typeface="Raleway"/>
                <a:cs typeface="Raleway"/>
                <a:sym typeface="Raleway"/>
              </a:rPr>
              <a:t>Минимальные требования к функциональности моего продукта</a:t>
            </a:r>
            <a:endParaRPr b="1" sz="2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4"/>
          <p:cNvGrpSpPr/>
          <p:nvPr/>
        </p:nvGrpSpPr>
        <p:grpSpPr>
          <a:xfrm>
            <a:off x="246373" y="1302481"/>
            <a:ext cx="2065546" cy="3421183"/>
            <a:chOff x="431925" y="1304875"/>
            <a:chExt cx="2628925" cy="3416400"/>
          </a:xfrm>
        </p:grpSpPr>
        <p:sp>
          <p:nvSpPr>
            <p:cNvPr id="73" name="Google Shape;73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550" lIns="91550" spcFirstLastPara="1" rIns="91550" wrap="square" tIns="91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550" lIns="91550" spcFirstLastPara="1" rIns="91550" wrap="square" tIns="91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4"/>
          <p:cNvSpPr txBox="1"/>
          <p:nvPr>
            <p:ph idx="4294967295" type="body"/>
          </p:nvPr>
        </p:nvSpPr>
        <p:spPr>
          <a:xfrm>
            <a:off x="311525" y="1826000"/>
            <a:ext cx="1958400" cy="28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Загрузка и регулярное обновление данных о покупках и промо-кампаниях.</a:t>
            </a:r>
            <a:endParaRPr sz="1600"/>
          </a:p>
        </p:txBody>
      </p:sp>
      <p:grpSp>
        <p:nvGrpSpPr>
          <p:cNvPr id="76" name="Google Shape;76;p14"/>
          <p:cNvGrpSpPr/>
          <p:nvPr/>
        </p:nvGrpSpPr>
        <p:grpSpPr>
          <a:xfrm>
            <a:off x="2472116" y="1307275"/>
            <a:ext cx="1958317" cy="3416400"/>
            <a:chOff x="3320450" y="1304875"/>
            <a:chExt cx="2632500" cy="3416400"/>
          </a:xfrm>
        </p:grpSpPr>
        <p:sp>
          <p:nvSpPr>
            <p:cNvPr id="77" name="Google Shape;77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>
            <p:ph idx="4294967295" type="body"/>
          </p:nvPr>
        </p:nvSpPr>
        <p:spPr>
          <a:xfrm>
            <a:off x="2547825" y="1801700"/>
            <a:ext cx="1848900" cy="28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Uplift-скоринг клиентов по отклику на скидку (по сути — «обёртка» над идеями scikit-uplift, но под конкретный бизнес-кейс).</a:t>
            </a:r>
            <a:endParaRPr sz="1600"/>
          </a:p>
        </p:txBody>
      </p:sp>
      <p:grpSp>
        <p:nvGrpSpPr>
          <p:cNvPr id="80" name="Google Shape;80;p14"/>
          <p:cNvGrpSpPr/>
          <p:nvPr/>
        </p:nvGrpSpPr>
        <p:grpSpPr>
          <a:xfrm>
            <a:off x="4591769" y="1307275"/>
            <a:ext cx="2027815" cy="3416400"/>
            <a:chOff x="6212550" y="1304875"/>
            <a:chExt cx="2632500" cy="3416400"/>
          </a:xfrm>
        </p:grpSpPr>
        <p:sp>
          <p:nvSpPr>
            <p:cNvPr id="81" name="Google Shape;81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4"/>
          <p:cNvSpPr txBox="1"/>
          <p:nvPr>
            <p:ph idx="4294967295" type="body"/>
          </p:nvPr>
        </p:nvSpPr>
        <p:spPr>
          <a:xfrm>
            <a:off x="4766900" y="1832900"/>
            <a:ext cx="1732200" cy="27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Формирование списков/сегментов для CRM.</a:t>
            </a:r>
            <a:endParaRPr sz="1600"/>
          </a:p>
        </p:txBody>
      </p:sp>
      <p:grpSp>
        <p:nvGrpSpPr>
          <p:cNvPr id="84" name="Google Shape;84;p14"/>
          <p:cNvGrpSpPr/>
          <p:nvPr/>
        </p:nvGrpSpPr>
        <p:grpSpPr>
          <a:xfrm>
            <a:off x="6780934" y="1307275"/>
            <a:ext cx="2120479" cy="3416400"/>
            <a:chOff x="6212550" y="1304875"/>
            <a:chExt cx="2632500" cy="3416400"/>
          </a:xfrm>
        </p:grpSpPr>
        <p:sp>
          <p:nvSpPr>
            <p:cNvPr id="85" name="Google Shape;85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4"/>
          <p:cNvSpPr txBox="1"/>
          <p:nvPr>
            <p:ph idx="4294967295" type="body"/>
          </p:nvPr>
        </p:nvSpPr>
        <p:spPr>
          <a:xfrm>
            <a:off x="6975075" y="1857200"/>
            <a:ext cx="1732200" cy="27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Простые отчёты для директора по маркетингу: экономия бюджета, прирост конверсии и дополнительная прибыль.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/>
              <a:t>Ключевые конкурентные преимущества</a:t>
            </a:r>
            <a:endParaRPr b="1" sz="3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Узкая специализация: только эффективность скидок и промо, а не «весь маркетинг» как у Klaviyo/Optimove.</a:t>
            </a:r>
            <a:endParaRPr sz="1600"/>
          </a:p>
        </p:txBody>
      </p:sp>
      <p:sp>
        <p:nvSpPr>
          <p:cNvPr id="95" name="Google Shape;95;p15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Понятный бизнес-язык и отчёты: фокус не на моделях, а на ответе «сколько денег мы экономим/зарабатываем».</a:t>
            </a:r>
            <a:endParaRPr sz="1600"/>
          </a:p>
        </p:txBody>
      </p:sp>
      <p:sp>
        <p:nvSpPr>
          <p:cNvPr id="97" name="Google Shape;97;p15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Возможность развернуть решение как внутренний сервис, не зависящий от внешней платформы и дорогих лицензий.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62600" y="805075"/>
            <a:ext cx="4572000" cy="14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latin typeface="Raleway"/>
                <a:ea typeface="Raleway"/>
                <a:cs typeface="Raleway"/>
                <a:sym typeface="Raleway"/>
              </a:rPr>
              <a:t>Модель ценообразования / монетизации</a:t>
            </a:r>
            <a:endParaRPr/>
          </a:p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4876925" y="383550"/>
            <a:ext cx="3980700" cy="43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В учебном проекте — внутренний инструмент, ценность измеряется через экономию промо-бюджета и рост прибыли, а не через прямую выручку.</a:t>
            </a:r>
            <a:endParaRPr b="1" sz="14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В потенциальном внешнем продукте — SaaS-подписка, как у Klaviyo/Optimove, но с оплатой за количество скорированных клиентов/кампаний и более низким порогом входа.</a:t>
            </a:r>
            <a:endParaRPr/>
          </a:p>
        </p:txBody>
      </p:sp>
      <p:pic>
        <p:nvPicPr>
          <p:cNvPr descr="Dollar bills (источник: Getty Images)"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650" y="2010425"/>
            <a:ext cx="4248525" cy="2879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Фоновый значок указателя на временной шкале" id="110" name="Google Shape;110;p17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7"/>
          <p:cNvGrpSpPr/>
          <p:nvPr/>
        </p:nvGrpSpPr>
        <p:grpSpPr>
          <a:xfrm>
            <a:off x="969270" y="1610215"/>
            <a:ext cx="198900" cy="593656"/>
            <a:chOff x="777447" y="1610215"/>
            <a:chExt cx="198900" cy="593656"/>
          </a:xfrm>
        </p:grpSpPr>
        <p:cxnSp>
          <p:nvCxnSpPr>
            <p:cNvPr id="112" name="Google Shape;112;p17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" name="Google Shape;113;p17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17"/>
          <p:cNvSpPr txBox="1"/>
          <p:nvPr>
            <p:ph idx="4294967295" type="body"/>
          </p:nvPr>
        </p:nvSpPr>
        <p:spPr>
          <a:xfrm>
            <a:off x="340925" y="571250"/>
            <a:ext cx="40575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ru" sz="1400"/>
              <a:t>Прирост конверсии таргетированных промо на </a:t>
            </a:r>
            <a:r>
              <a:rPr b="1" lang="ru" sz="1400"/>
              <a:t>+3–5 п.п.</a:t>
            </a:r>
            <a:r>
              <a:rPr lang="ru" sz="1400"/>
              <a:t> относительно текущей «наивной» стратегии.</a:t>
            </a:r>
            <a:endParaRPr sz="1400"/>
          </a:p>
        </p:txBody>
      </p:sp>
      <p:sp>
        <p:nvSpPr>
          <p:cNvPr descr="Фоновый значок указателя на временной шкале&#10;" id="115" name="Google Shape;115;p17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17"/>
          <p:cNvGrpSpPr/>
          <p:nvPr/>
        </p:nvGrpSpPr>
        <p:grpSpPr>
          <a:xfrm>
            <a:off x="4441407" y="2944508"/>
            <a:ext cx="198900" cy="593656"/>
            <a:chOff x="2223534" y="2938958"/>
            <a:chExt cx="198900" cy="593656"/>
          </a:xfrm>
        </p:grpSpPr>
        <p:cxnSp>
          <p:nvCxnSpPr>
            <p:cNvPr id="117" name="Google Shape;117;p17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" name="Google Shape;118;p17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7"/>
          <p:cNvSpPr txBox="1"/>
          <p:nvPr>
            <p:ph idx="4294967295" type="body"/>
          </p:nvPr>
        </p:nvSpPr>
        <p:spPr>
          <a:xfrm>
            <a:off x="2800693" y="3675725"/>
            <a:ext cx="34803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400"/>
              <a:t>Снижение доли «бесполезных» скидок (клиент купил бы без скидки) на </a:t>
            </a:r>
            <a:r>
              <a:rPr b="1" lang="ru" sz="1400"/>
              <a:t>10–20%</a:t>
            </a:r>
            <a:r>
              <a:rPr lang="ru" sz="1400"/>
              <a:t> при той же выручке.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descr="Фоновый значок указателя на временной шкале&#10;" id="120" name="Google Shape;120;p17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Фоновый значок указателя на временной шкале&#10;" id="121" name="Google Shape;121;p17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Фоновый значок указателя на временной шкале&#10;" id="122" name="Google Shape;122;p17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>
            <p:ph idx="4294967295" type="body"/>
          </p:nvPr>
        </p:nvSpPr>
        <p:spPr>
          <a:xfrm>
            <a:off x="654800" y="2336550"/>
            <a:ext cx="77721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2425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Бенчмарки, к которым я хочу стремиться</a:t>
            </a:r>
            <a:endParaRPr sz="22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124" name="Google Shape;124;p17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25" name="Google Shape;125;p17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" name="Google Shape;126;p17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7"/>
          <p:cNvSpPr txBox="1"/>
          <p:nvPr>
            <p:ph idx="4294967295" type="body"/>
          </p:nvPr>
        </p:nvSpPr>
        <p:spPr>
          <a:xfrm>
            <a:off x="5932500" y="795050"/>
            <a:ext cx="32115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>
                <a:solidFill>
                  <a:srgbClr val="666666"/>
                </a:solidFill>
              </a:rPr>
              <a:t>Улучшение ROI промо-акций на </a:t>
            </a:r>
            <a:r>
              <a:rPr b="1" lang="ru" sz="5600">
                <a:solidFill>
                  <a:srgbClr val="666666"/>
                </a:solidFill>
              </a:rPr>
              <a:t>10–15%</a:t>
            </a:r>
            <a:r>
              <a:rPr lang="ru" sz="5600">
                <a:solidFill>
                  <a:srgbClr val="666666"/>
                </a:solidFill>
              </a:rPr>
              <a:t> после внедрения сервиса.</a:t>
            </a:r>
            <a:endParaRPr sz="5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